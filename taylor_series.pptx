
<file path=[Content_Types].xml><?xml version="1.0" encoding="utf-8"?>
<Types xmlns="http://schemas.openxmlformats.org/package/2006/content-types">
  <Default Extension="tmp" ContentType="image/png"/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4"/>
  </p:notesMasterIdLst>
  <p:sldIdLst>
    <p:sldId id="256" r:id="rId2"/>
    <p:sldId id="258" r:id="rId3"/>
    <p:sldId id="259" r:id="rId4"/>
    <p:sldId id="260" r:id="rId5"/>
    <p:sldId id="261" r:id="rId6"/>
    <p:sldId id="262" r:id="rId7"/>
    <p:sldId id="265" r:id="rId8"/>
    <p:sldId id="267" r:id="rId9"/>
    <p:sldId id="268" r:id="rId10"/>
    <p:sldId id="269" r:id="rId11"/>
    <p:sldId id="270" r:id="rId12"/>
    <p:sldId id="271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434" autoAdjust="0"/>
  </p:normalViewPr>
  <p:slideViewPr>
    <p:cSldViewPr snapToGrid="0">
      <p:cViewPr varScale="1">
        <p:scale>
          <a:sx n="70" d="100"/>
          <a:sy n="70" d="100"/>
        </p:scale>
        <p:origin x="73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4895252-2C21-4054-BB52-9A98C216A9D6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E0EE84C-FB74-4AF5-A988-453C0A902FC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33767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7E0EE84C-FB74-4AF5-A988-453C0A902FC5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264402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B264-5886-4467-BB4C-003BE46950CF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ACC9-1485-43E8-B90E-F2A8C06FE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37176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B264-5886-4467-BB4C-003BE46950CF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ACC9-1485-43E8-B90E-F2A8C06FE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5554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B264-5886-4467-BB4C-003BE46950CF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ACC9-1485-43E8-B90E-F2A8C06FE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95906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B264-5886-4467-BB4C-003BE46950CF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ACC9-1485-43E8-B90E-F2A8C06FE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4427448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B264-5886-4467-BB4C-003BE46950CF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ACC9-1485-43E8-B90E-F2A8C06FE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7136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B264-5886-4467-BB4C-003BE46950CF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ACC9-1485-43E8-B90E-F2A8C06FE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779612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B264-5886-4467-BB4C-003BE46950CF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ACC9-1485-43E8-B90E-F2A8C06FE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3201898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B264-5886-4467-BB4C-003BE46950CF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ACC9-1485-43E8-B90E-F2A8C06FE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940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B264-5886-4467-BB4C-003BE46950CF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ACC9-1485-43E8-B90E-F2A8C06FE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7435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B264-5886-4467-BB4C-003BE46950CF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ACC9-1485-43E8-B90E-F2A8C06FE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979375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64B264-5886-4467-BB4C-003BE46950CF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113ACC9-1485-43E8-B90E-F2A8C06FE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9828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264B264-5886-4467-BB4C-003BE46950CF}" type="datetimeFigureOut">
              <a:rPr lang="en-US" smtClean="0"/>
              <a:t>8/5/2025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113ACC9-1485-43E8-B90E-F2A8C06FEC3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0466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tmp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tmp"/><Relationship Id="rId2" Type="http://schemas.openxmlformats.org/officeDocument/2006/relationships/image" Target="../media/image2.tmp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tmp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tmp"/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tmp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6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6423" y="1418577"/>
            <a:ext cx="9144000" cy="2638268"/>
          </a:xfrm>
        </p:spPr>
        <p:txBody>
          <a:bodyPr>
            <a:normAutofit/>
          </a:bodyPr>
          <a:lstStyle/>
          <a:p>
            <a:r>
              <a:rPr lang="en-US" sz="7200" b="1" dirty="0" smtClean="0">
                <a:solidFill>
                  <a:srgbClr val="C00000"/>
                </a:solidFill>
                <a:latin typeface="Bell MT" panose="02020503060305020303" pitchFamily="18" charset="0"/>
              </a:rPr>
              <a:t>TAYLOR  SERIES</a:t>
            </a:r>
            <a:endParaRPr lang="en-US" sz="7200" b="1" dirty="0">
              <a:solidFill>
                <a:srgbClr val="C00000"/>
              </a:solidFill>
              <a:latin typeface="Bell MT" panose="02020503060305020303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890979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7379595" y="130969"/>
                <a:ext cx="4122402" cy="3660752"/>
              </a:xfrm>
            </p:spPr>
            <p:txBody>
              <a:bodyPr>
                <a:normAutofit/>
              </a:bodyPr>
              <a:lstStyle/>
              <a:p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=1−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2!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4!</m:t>
                        </m:r>
                      </m:den>
                    </m:f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0" smtClean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6!</m:t>
                        </m:r>
                      </m:den>
                    </m:f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2000" i="1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8!</m:t>
                        </m:r>
                      </m:den>
                    </m:f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r>
                      <a:rPr lang="en-US" sz="2000" b="0" i="1" dirty="0" smtClean="0">
                        <a:latin typeface="Cambria Math" panose="02040503050406030204" pitchFamily="18" charset="0"/>
                      </a:rPr>
                      <m:t>……..</m:t>
                    </m:r>
                  </m:oMath>
                </a14:m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r>
                  <a:rPr lang="en-US" sz="2000" dirty="0"/>
                  <a:t/>
                </a:r>
                <a:br>
                  <a:rPr lang="en-US" sz="2000" dirty="0"/>
                </a:br>
                <a:r>
                  <a:rPr lang="en-US" sz="2000" dirty="0" smtClean="0">
                    <a:latin typeface="Bell MT" panose="02020503060305020303" pitchFamily="18" charset="0"/>
                  </a:rPr>
                  <a:t>For small angles,</a:t>
                </a:r>
                <a:br>
                  <a:rPr lang="en-US" sz="2000" dirty="0" smtClean="0">
                    <a:latin typeface="Bell MT" panose="02020503060305020303" pitchFamily="18" charset="0"/>
                  </a:rPr>
                </a:br>
                <a:r>
                  <a:rPr lang="en-US" sz="2000" dirty="0" smtClean="0">
                    <a:latin typeface="Bell MT" panose="02020503060305020303" pitchFamily="18" charset="0"/>
                  </a:rPr>
                  <a:t> 	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1−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2!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r>
                  <a:rPr lang="en-US" sz="2000" dirty="0"/>
                  <a:t>	</a:t>
                </a:r>
                <a:r>
                  <a:rPr lang="en-US" sz="2000" dirty="0" smtClean="0"/>
                  <a:t>1</a:t>
                </a:r>
                <a14:m>
                  <m:oMath xmlns:m="http://schemas.openxmlformats.org/officeDocument/2006/math">
                    <m:r>
                      <a:rPr lang="en-US" sz="2000" b="0" i="1" smtClean="0">
                        <a:latin typeface="Cambria Math" panose="02040503050406030204" pitchFamily="18" charset="0"/>
                      </a:rPr>
                      <m:t>−</m:t>
                    </m:r>
                  </m:oMath>
                </a14:m>
                <a:r>
                  <a:rPr lang="en-US" sz="2000" dirty="0" smtClean="0"/>
                  <a:t>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000" i="1" smtClean="0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000" i="0" smtClean="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20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2000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≈</m:t>
                        </m:r>
                        <m:f>
                          <m:fPr>
                            <m:ctrlP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2000" b="0" i="1" smtClean="0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2000" b="0" i="1" smtClean="0">
                                <a:latin typeface="Cambria Math" panose="02040503050406030204" pitchFamily="18" charset="0"/>
                              </a:rPr>
                              <m:t>2!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2000" dirty="0"/>
                  <a:t/>
                </a:r>
                <a:br>
                  <a:rPr lang="en-US" sz="2000" dirty="0"/>
                </a:br>
                <a:r>
                  <a:rPr lang="en-US" sz="2000" dirty="0" smtClean="0"/>
                  <a:t/>
                </a:r>
                <a:br>
                  <a:rPr lang="en-US" sz="2000" dirty="0" smtClean="0"/>
                </a:br>
                <a:endParaRPr lang="en-US" sz="2000" dirty="0"/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7379595" y="130969"/>
                <a:ext cx="4122402" cy="3660752"/>
              </a:xfrm>
              <a:blipFill rotWithShape="0">
                <a:blip r:embed="rId2"/>
                <a:stretch>
                  <a:fillRect l="-162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47729" y="3791721"/>
            <a:ext cx="11449318" cy="2905293"/>
          </a:xfrm>
        </p:spPr>
        <p:txBody>
          <a:bodyPr>
            <a:normAutofit/>
          </a:bodyPr>
          <a:lstStyle/>
          <a:p>
            <a:r>
              <a:rPr lang="en-US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  <a:t>Consider a simple pendulum with rod length, ‘L’ oscillating in </a:t>
            </a:r>
            <a:r>
              <a:rPr lang="en-US" sz="2000" b="1" dirty="0" smtClean="0">
                <a:solidFill>
                  <a:schemeClr val="accent1"/>
                </a:solidFill>
                <a:latin typeface="Bell MT" panose="02020503060305020303" pitchFamily="18" charset="0"/>
              </a:rPr>
              <a:t>small angles </a:t>
            </a:r>
            <a:r>
              <a:rPr lang="en-US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  <a:t>about point A from point B to point C. Suppose we have to find the height of point C above the horizontal axis. So we split the vertical and horizontal components of length vector and took the difference.</a:t>
            </a:r>
            <a:br>
              <a:rPr lang="en-US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</a:br>
            <a:r>
              <a:rPr lang="en-US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  <a:t/>
            </a:r>
            <a:br>
              <a:rPr lang="en-US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</a:br>
            <a:r>
              <a:rPr lang="en-US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  <a:t/>
            </a:r>
            <a:br>
              <a:rPr lang="en-US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</a:br>
            <a:r>
              <a:rPr lang="en-US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  <a:t>We substituted cosine term with its Taylor expansion for small angles.</a:t>
            </a:r>
          </a:p>
          <a:p>
            <a:r>
              <a:rPr lang="en-US" sz="2000" dirty="0" smtClean="0">
                <a:solidFill>
                  <a:schemeClr val="tx1"/>
                </a:solidFill>
                <a:latin typeface="Bell MT" panose="02020503060305020303" pitchFamily="18" charset="0"/>
              </a:rPr>
              <a:t>Now the simplified term makes further derivation easy.</a:t>
            </a:r>
            <a:endParaRPr lang="en-US" sz="2000" dirty="0">
              <a:solidFill>
                <a:schemeClr val="tx1"/>
              </a:solidFill>
            </a:endParaRPr>
          </a:p>
        </p:txBody>
      </p:sp>
      <p:pic>
        <p:nvPicPr>
          <p:cNvPr id="4" name="Picture 3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5771" y="267304"/>
            <a:ext cx="5909446" cy="33880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877499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63670" y="399245"/>
            <a:ext cx="10887924" cy="631065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Bell MT" panose="02020503060305020303" pitchFamily="18" charset="0"/>
              </a:rPr>
              <a:t>How a trigonometric function can be equated to a polynomial function?</a:t>
            </a:r>
            <a:endParaRPr lang="en-US" sz="2400" dirty="0">
              <a:solidFill>
                <a:srgbClr val="FF0000"/>
              </a:solidFill>
            </a:endParaRPr>
          </a:p>
        </p:txBody>
      </p:sp>
      <p:pic>
        <p:nvPicPr>
          <p:cNvPr id="7" name="Picture 6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678" y="2383805"/>
            <a:ext cx="6330041" cy="2491177"/>
          </a:xfrm>
          <a:prstGeom prst="rect">
            <a:avLst/>
          </a:prstGeom>
        </p:spPr>
      </p:pic>
      <p:pic>
        <p:nvPicPr>
          <p:cNvPr id="8" name="Picture 7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47248" y="1893276"/>
            <a:ext cx="4286569" cy="347223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02936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3061" y="296213"/>
            <a:ext cx="10515600" cy="788965"/>
          </a:xfrm>
        </p:spPr>
        <p:txBody>
          <a:bodyPr/>
          <a:lstStyle/>
          <a:p>
            <a:r>
              <a:rPr lang="en-US" sz="2400" dirty="0">
                <a:latin typeface="Bell MT" panose="02020503060305020303" pitchFamily="18" charset="0"/>
              </a:rPr>
              <a:t>If we look carefully, we can see both the graphs overlapping at zero and points near zero</a:t>
            </a:r>
            <a:endParaRPr lang="en-US" sz="2400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49" y="5383369"/>
            <a:ext cx="10656105" cy="978794"/>
          </a:xfrm>
        </p:spPr>
        <p:txBody>
          <a:bodyPr>
            <a:normAutofit lnSpcReduction="10000"/>
          </a:bodyPr>
          <a:lstStyle/>
          <a:p>
            <a:r>
              <a:rPr lang="en-US" dirty="0" smtClean="0">
                <a:solidFill>
                  <a:schemeClr val="tx1"/>
                </a:solidFill>
                <a:latin typeface="Bell MT" panose="02020503060305020303" pitchFamily="18" charset="0"/>
              </a:rPr>
              <a:t>The pendulum shown in previous example exhibits small oscillations i.e. the value of theta is nearly zero, hence the substitution by this quadratic polynomial is justifiable.</a:t>
            </a:r>
            <a:endParaRPr lang="en-US" dirty="0">
              <a:solidFill>
                <a:schemeClr val="tx1"/>
              </a:solidFill>
              <a:latin typeface="Bell MT" panose="02020503060305020303" pitchFamily="18" charset="0"/>
            </a:endParaRPr>
          </a:p>
        </p:txBody>
      </p:sp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1849" y="1300176"/>
            <a:ext cx="9960660" cy="3400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2604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1482143" y="1622737"/>
                <a:ext cx="11963400" cy="4275787"/>
              </a:xfrm>
            </p:spPr>
            <p:txBody>
              <a:bodyPr>
                <a:normAutofit/>
              </a:bodyPr>
              <a:lstStyle/>
              <a:p>
                <a:r>
                  <a:rPr lang="en-US" sz="3200" dirty="0" smtClean="0">
                    <a:solidFill>
                      <a:srgbClr val="FF0000"/>
                    </a:solidFill>
                    <a:latin typeface="Bell MT" panose="02020503060305020303" pitchFamily="18" charset="0"/>
                  </a:rPr>
                  <a:t>What is the significance of other terms in Taylor series?</a:t>
                </a:r>
                <a:br>
                  <a:rPr lang="en-US" sz="3200" dirty="0" smtClean="0">
                    <a:solidFill>
                      <a:srgbClr val="FF0000"/>
                    </a:solidFill>
                    <a:latin typeface="Bell MT" panose="02020503060305020303" pitchFamily="18" charset="0"/>
                  </a:rPr>
                </a:br>
                <a:r>
                  <a:rPr lang="en-US" sz="3200" dirty="0">
                    <a:latin typeface="Bell MT" panose="02020503060305020303" pitchFamily="18" charset="0"/>
                  </a:rPr>
                  <a:t/>
                </a:r>
                <a:br>
                  <a:rPr lang="en-US" sz="3200" dirty="0">
                    <a:latin typeface="Bell MT" panose="02020503060305020303" pitchFamily="18" charset="0"/>
                  </a:rPr>
                </a:br>
                <a14:m>
                  <m:oMath xmlns:m="http://schemas.openxmlformats.org/officeDocument/2006/math">
                    <m:func>
                      <m:func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3200">
                            <a:latin typeface="Cambria Math" panose="02040503050406030204" pitchFamily="18" charset="0"/>
                          </a:rPr>
                          <m:t>cos</m:t>
                        </m:r>
                      </m:fName>
                      <m:e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=1−</m:t>
                        </m:r>
                        <m:f>
                          <m:f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en-US" sz="3200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US" sz="3200" i="1"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2!</m:t>
                            </m:r>
                          </m:den>
                        </m:f>
                      </m:e>
                    </m:func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4!</m:t>
                        </m:r>
                      </m:den>
                    </m:f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6!</m:t>
                        </m:r>
                      </m:den>
                    </m:f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sz="320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sz="3200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sz="3200" i="1">
                                <a:latin typeface="Cambria Math" panose="02040503050406030204" pitchFamily="18" charset="0"/>
                              </a:rPr>
                              <m:t>8</m:t>
                            </m:r>
                          </m:sup>
                        </m:sSup>
                      </m:num>
                      <m:den>
                        <m:r>
                          <a:rPr lang="en-US" sz="3200" i="1">
                            <a:latin typeface="Cambria Math" panose="02040503050406030204" pitchFamily="18" charset="0"/>
                          </a:rPr>
                          <m:t>8!</m:t>
                        </m:r>
                      </m:den>
                    </m:f>
                  </m:oMath>
                </a14:m>
                <a:r>
                  <a:rPr lang="en-US" sz="3200" dirty="0"/>
                  <a:t> </a:t>
                </a:r>
                <a14:m>
                  <m:oMath xmlns:m="http://schemas.openxmlformats.org/officeDocument/2006/math">
                    <m:r>
                      <a:rPr lang="en-US" sz="3200" i="1" dirty="0">
                        <a:latin typeface="Cambria Math" panose="02040503050406030204" pitchFamily="18" charset="0"/>
                      </a:rPr>
                      <m:t>……..</m:t>
                    </m:r>
                  </m:oMath>
                </a14:m>
                <a:r>
                  <a:rPr lang="en-US" sz="3200" dirty="0" smtClean="0">
                    <a:solidFill>
                      <a:srgbClr val="FF0000"/>
                    </a:solidFill>
                    <a:latin typeface="Bell MT" panose="02020503060305020303" pitchFamily="18" charset="0"/>
                  </a:rPr>
                  <a:t/>
                </a:r>
                <a:br>
                  <a:rPr lang="en-US" sz="3200" dirty="0" smtClean="0">
                    <a:solidFill>
                      <a:srgbClr val="FF0000"/>
                    </a:solidFill>
                    <a:latin typeface="Bell MT" panose="02020503060305020303" pitchFamily="18" charset="0"/>
                  </a:rPr>
                </a:br>
                <a:r>
                  <a:rPr lang="en-US" sz="3200" dirty="0" smtClean="0">
                    <a:solidFill>
                      <a:srgbClr val="FF0000"/>
                    </a:solidFill>
                    <a:latin typeface="Bell MT" panose="02020503060305020303" pitchFamily="18" charset="0"/>
                  </a:rPr>
                  <a:t/>
                </a:r>
                <a:br>
                  <a:rPr lang="en-US" sz="3200" dirty="0" smtClean="0">
                    <a:solidFill>
                      <a:srgbClr val="FF0000"/>
                    </a:solidFill>
                    <a:latin typeface="Bell MT" panose="02020503060305020303" pitchFamily="18" charset="0"/>
                  </a:rPr>
                </a:br>
                <a:r>
                  <a:rPr lang="en-US" sz="3200" dirty="0" smtClean="0">
                    <a:solidFill>
                      <a:srgbClr val="FF0000"/>
                    </a:solidFill>
                    <a:latin typeface="Bell MT" panose="02020503060305020303" pitchFamily="18" charset="0"/>
                  </a:rPr>
                  <a:t>	 	</a:t>
                </a:r>
                <a:r>
                  <a:rPr lang="en-US" sz="2400" dirty="0" smtClean="0">
                    <a:latin typeface="Bell MT" panose="02020503060305020303" pitchFamily="18" charset="0"/>
                  </a:rPr>
                  <a:t>upto n terms: Taylor’s polynomial</a:t>
                </a:r>
                <a:br>
                  <a:rPr lang="en-US" sz="2400" dirty="0" smtClean="0">
                    <a:latin typeface="Bell MT" panose="02020503060305020303" pitchFamily="18" charset="0"/>
                  </a:rPr>
                </a:br>
                <a:r>
                  <a:rPr lang="en-US" sz="2400" dirty="0">
                    <a:latin typeface="Bell MT" panose="02020503060305020303" pitchFamily="18" charset="0"/>
                  </a:rPr>
                  <a:t/>
                </a:r>
                <a:br>
                  <a:rPr lang="en-US" sz="2400" dirty="0">
                    <a:latin typeface="Bell MT" panose="02020503060305020303" pitchFamily="18" charset="0"/>
                  </a:rPr>
                </a:br>
                <a:r>
                  <a:rPr lang="en-US" sz="2400" dirty="0" smtClean="0">
                    <a:latin typeface="Bell MT" panose="02020503060305020303" pitchFamily="18" charset="0"/>
                  </a:rPr>
                  <a:t>		upto infinity: Taylor’s series</a:t>
                </a:r>
                <a:endParaRPr lang="en-US" sz="3200" dirty="0">
                  <a:solidFill>
                    <a:srgbClr val="FF0000"/>
                  </a:solidFill>
                  <a:latin typeface="Bell MT" panose="02020503060305020303" pitchFamily="18" charset="0"/>
                </a:endParaRP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1482143" y="1622737"/>
                <a:ext cx="11963400" cy="4275787"/>
              </a:xfrm>
              <a:blipFill rotWithShape="0">
                <a:blip r:embed="rId2"/>
                <a:stretch>
                  <a:fillRect l="-1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4" name="Straight Arrow Connector 3"/>
          <p:cNvCxnSpPr/>
          <p:nvPr/>
        </p:nvCxnSpPr>
        <p:spPr>
          <a:xfrm>
            <a:off x="2884867" y="4159876"/>
            <a:ext cx="2575775" cy="0"/>
          </a:xfrm>
          <a:prstGeom prst="straightConnector1">
            <a:avLst/>
          </a:prstGeom>
          <a:ln w="38100">
            <a:headEnd type="triangle"/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6" name="Straight Arrow Connector 5"/>
          <p:cNvCxnSpPr/>
          <p:nvPr/>
        </p:nvCxnSpPr>
        <p:spPr>
          <a:xfrm>
            <a:off x="2884867" y="4893972"/>
            <a:ext cx="6400801" cy="0"/>
          </a:xfrm>
          <a:prstGeom prst="straightConnector1">
            <a:avLst/>
          </a:prstGeom>
          <a:ln w="38100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461788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56538" y="5965610"/>
            <a:ext cx="10669489" cy="892390"/>
          </a:xfrm>
        </p:spPr>
        <p:txBody>
          <a:bodyPr>
            <a:normAutofit/>
          </a:bodyPr>
          <a:lstStyle/>
          <a:p>
            <a:r>
              <a:rPr lang="en-US" sz="2400" dirty="0" smtClean="0">
                <a:latin typeface="Bell MT" panose="02020503060305020303" pitchFamily="18" charset="0"/>
              </a:rPr>
              <a:t>More the number of terms taken into account as taylor polynomial, more the graph of that particular polynomial coincides with cos(x).</a:t>
            </a:r>
            <a:endParaRPr lang="en-US" sz="2400" dirty="0">
              <a:latin typeface="Bell MT" panose="02020503060305020303" pitchFamily="18" charset="0"/>
            </a:endParaRPr>
          </a:p>
        </p:txBody>
      </p:sp>
      <p:pic>
        <p:nvPicPr>
          <p:cNvPr id="3" name="Picture 2" descr="Screen Clippi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6538" y="105731"/>
            <a:ext cx="11085002" cy="57800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96930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781" y="-1702202"/>
            <a:ext cx="10515600" cy="2852737"/>
          </a:xfrm>
        </p:spPr>
        <p:txBody>
          <a:bodyPr>
            <a:normAutofit/>
          </a:bodyPr>
          <a:lstStyle/>
          <a:p>
            <a:r>
              <a:rPr lang="en-US" sz="2800" dirty="0">
                <a:solidFill>
                  <a:srgbClr val="FF0000"/>
                </a:solidFill>
                <a:latin typeface="Bell MT" panose="02020503060305020303" pitchFamily="18" charset="0"/>
              </a:rPr>
              <a:t>How did we find this exact equation, more specifically how did we find the exact coefficients?</a:t>
            </a:r>
            <a:endParaRPr 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 Placeholder 2"/>
              <p:cNvSpPr>
                <a:spLocks noGrp="1"/>
              </p:cNvSpPr>
              <p:nvPr>
                <p:ph type="body" idx="1"/>
              </p:nvPr>
            </p:nvSpPr>
            <p:spPr>
              <a:xfrm>
                <a:off x="872794" y="5131319"/>
                <a:ext cx="10515600" cy="1500187"/>
              </a:xfrm>
            </p:spPr>
            <p:txBody>
              <a:bodyPr>
                <a:normAutofit fontScale="92500" lnSpcReduction="10000"/>
              </a:bodyPr>
              <a:lstStyle/>
              <a:p>
                <a:pPr marL="457200" indent="-457200">
                  <a:buAutoNum type="arabicPeriod"/>
                </a:pPr>
                <a:r>
                  <a:rPr lang="en-US" dirty="0" smtClean="0">
                    <a:solidFill>
                      <a:schemeClr val="tx1"/>
                    </a:solidFill>
                    <a:latin typeface="Bell MT" panose="02020503060305020303" pitchFamily="18" charset="0"/>
                  </a:rPr>
                  <a:t>Consider a general equation for fourth degree polynomial,</a:t>
                </a:r>
              </a:p>
              <a:p>
                <a:r>
                  <a:rPr lang="en-US" dirty="0">
                    <a:solidFill>
                      <a:schemeClr val="tx1"/>
                    </a:solidFill>
                    <a:latin typeface="Bell MT" panose="02020503060305020303" pitchFamily="18" charset="0"/>
                  </a:rPr>
                  <a:t>	</a:t>
                </a:r>
                <a:r>
                  <a:rPr lang="en-US" dirty="0" smtClean="0">
                    <a:solidFill>
                      <a:schemeClr val="tx1"/>
                    </a:solidFill>
                    <a:latin typeface="Bell MT" panose="02020503060305020303" pitchFamily="18" charset="0"/>
                  </a:rPr>
                  <a:t> </a:t>
                </a:r>
                <a14:m>
                  <m:oMath xmlns:m="http://schemas.openxmlformats.org/officeDocument/2006/math"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b="0" i="1" smtClean="0">
                            <a:solidFill>
                              <a:schemeClr val="tx1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𝑒</m:t>
                    </m:r>
                    <m:r>
                      <a:rPr lang="en-US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b="0" dirty="0" smtClean="0">
                  <a:solidFill>
                    <a:schemeClr val="tx1"/>
                  </a:solidFill>
                  <a:latin typeface="Bell MT" panose="02020503060305020303" pitchFamily="18" charset="0"/>
                </a:endParaRPr>
              </a:p>
              <a:p>
                <a:r>
                  <a:rPr lang="en-US" dirty="0" smtClean="0">
                    <a:solidFill>
                      <a:schemeClr val="tx1"/>
                    </a:solidFill>
                    <a:latin typeface="Bell MT" panose="02020503060305020303" pitchFamily="18" charset="0"/>
                  </a:rPr>
                  <a:t>2.    Since both cos(x) and the taylor polynomial would coincide at 0 and points near zero, we can equate the derivatives of both functions at x=0.</a:t>
                </a:r>
                <a:endParaRPr lang="en-US" dirty="0">
                  <a:latin typeface="Bell MT" panose="02020503060305020303" pitchFamily="18" charset="0"/>
                </a:endParaRPr>
              </a:p>
            </p:txBody>
          </p:sp>
        </mc:Choice>
        <mc:Fallback xmlns="">
          <p:sp>
            <p:nvSpPr>
              <p:cNvPr id="3" name="Text Placeholder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body" idx="1"/>
              </p:nvPr>
            </p:nvSpPr>
            <p:spPr>
              <a:xfrm>
                <a:off x="872794" y="5131319"/>
                <a:ext cx="10515600" cy="1500187"/>
              </a:xfrm>
              <a:blipFill rotWithShape="0">
                <a:blip r:embed="rId2"/>
                <a:stretch>
                  <a:fillRect l="-754" t="-6504" b="-365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 descr="Screen Clipping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82476" y="1273365"/>
            <a:ext cx="8353094" cy="37351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92665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1610436" y="880281"/>
                <a:ext cx="8393374" cy="6196084"/>
              </a:xfrm>
            </p:spPr>
            <p:txBody>
              <a:bodyPr>
                <a:normAutofit/>
              </a:bodyPr>
              <a:lstStyle/>
              <a:p>
                <a:r>
                  <a:rPr lang="en-US" dirty="0" smtClean="0">
                    <a:latin typeface="Bell MT" panose="02020503060305020303" pitchFamily="18" charset="0"/>
                  </a:rPr>
                  <a:t>Zeroth </a:t>
                </a:r>
                <a:r>
                  <a:rPr lang="en-US" dirty="0">
                    <a:latin typeface="Bell MT" panose="02020503060305020303" pitchFamily="18" charset="0"/>
                  </a:rPr>
                  <a:t>order derivative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𝑐𝑜𝑠𝑥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Bell MT" panose="02020503060305020303" pitchFamily="18" charset="0"/>
                  </a:rPr>
                  <a:t>at x=0:</a:t>
                </a:r>
                <a:endParaRPr lang="en-US" dirty="0" smtClean="0">
                  <a:latin typeface="Bell MT" panose="02020503060305020303" pitchFamily="18" charset="0"/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𝑓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)=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𝑐𝑜𝑠</m:t>
                      </m:r>
                      <m:r>
                        <a:rPr lang="en-US" i="1">
                          <a:latin typeface="Cambria Math" panose="02040503050406030204" pitchFamily="18" charset="0"/>
                        </a:rPr>
                        <m:t>0=</m:t>
                      </m:r>
                      <m:r>
                        <a:rPr lang="en-US" b="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endParaRPr lang="en-US" dirty="0" smtClean="0">
                  <a:solidFill>
                    <a:srgbClr val="FF0000"/>
                  </a:solidFill>
                  <a:latin typeface="Bell MT" panose="02020503060305020303" pitchFamily="18" charset="0"/>
                </a:endParaRPr>
              </a:p>
              <a:p>
                <a:r>
                  <a:rPr lang="en-US" dirty="0" smtClean="0">
                    <a:latin typeface="Bell MT" panose="02020503060305020303" pitchFamily="18" charset="0"/>
                  </a:rPr>
                  <a:t>First </a:t>
                </a:r>
                <a:r>
                  <a:rPr lang="en-US" dirty="0">
                    <a:latin typeface="Bell MT" panose="02020503060305020303" pitchFamily="18" charset="0"/>
                  </a:rPr>
                  <a:t>order derivative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𝑐𝑜𝑠𝑥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smtClean="0">
                    <a:latin typeface="Bell MT" panose="02020503060305020303" pitchFamily="18" charset="0"/>
                  </a:rPr>
                  <a:t>at </a:t>
                </a:r>
                <a:r>
                  <a:rPr lang="en-US" dirty="0">
                    <a:latin typeface="Bell MT" panose="02020503060305020303" pitchFamily="18" charset="0"/>
                  </a:rPr>
                  <a:t>x=0:</a:t>
                </a:r>
                <a:br>
                  <a:rPr lang="en-US" dirty="0">
                    <a:latin typeface="Bell MT" panose="02020503060305020303" pitchFamily="18" charset="0"/>
                  </a:rPr>
                </a:br>
                <a:r>
                  <a:rPr lang="en-US" dirty="0">
                    <a:latin typeface="Bell MT" panose="02020503060305020303" pitchFamily="18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𝑠𝑖𝑛𝑥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0=0</m:t>
                    </m:r>
                  </m:oMath>
                </a14:m>
                <a:r>
                  <a:rPr lang="en-US" dirty="0">
                    <a:latin typeface="Bell MT" panose="02020503060305020303" pitchFamily="18" charset="0"/>
                  </a:rPr>
                  <a:t/>
                </a:r>
                <a:br>
                  <a:rPr lang="en-US" dirty="0">
                    <a:latin typeface="Bell MT" panose="02020503060305020303" pitchFamily="18" charset="0"/>
                  </a:rPr>
                </a:br>
                <a:r>
                  <a:rPr lang="en-US" dirty="0">
                    <a:latin typeface="Bell MT" panose="02020503060305020303" pitchFamily="18" charset="0"/>
                  </a:rPr>
                  <a:t/>
                </a:r>
                <a:br>
                  <a:rPr lang="en-US" dirty="0">
                    <a:latin typeface="Bell MT" panose="02020503060305020303" pitchFamily="18" charset="0"/>
                  </a:rPr>
                </a:br>
                <a:r>
                  <a:rPr lang="en-US" dirty="0">
                    <a:latin typeface="Bell MT" panose="02020503060305020303" pitchFamily="18" charset="0"/>
                  </a:rPr>
                  <a:t>Second order derivative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𝑐𝑜𝑠𝑥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Bell MT" panose="02020503060305020303" pitchFamily="18" charset="0"/>
                  </a:rPr>
                  <a:t>at x=0:</a:t>
                </a:r>
                <a:br>
                  <a:rPr lang="en-US" dirty="0">
                    <a:latin typeface="Bell MT" panose="02020503060305020303" pitchFamily="18" charset="0"/>
                  </a:rPr>
                </a:br>
                <a:r>
                  <a:rPr lang="en-US" dirty="0">
                    <a:latin typeface="Bell MT" panose="02020503060305020303" pitchFamily="18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𝑐𝑜𝑠𝑥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=−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0=−1</m:t>
                    </m:r>
                  </m:oMath>
                </a14:m>
                <a:r>
                  <a:rPr lang="en-US" dirty="0">
                    <a:latin typeface="Bell MT" panose="02020503060305020303" pitchFamily="18" charset="0"/>
                  </a:rPr>
                  <a:t/>
                </a:r>
                <a:br>
                  <a:rPr lang="en-US" dirty="0">
                    <a:latin typeface="Bell MT" panose="02020503060305020303" pitchFamily="18" charset="0"/>
                  </a:rPr>
                </a:br>
                <a:r>
                  <a:rPr lang="en-US" dirty="0">
                    <a:latin typeface="Bell MT" panose="02020503060305020303" pitchFamily="18" charset="0"/>
                  </a:rPr>
                  <a:t/>
                </a:r>
                <a:br>
                  <a:rPr lang="en-US" dirty="0">
                    <a:latin typeface="Bell MT" panose="02020503060305020303" pitchFamily="18" charset="0"/>
                  </a:rPr>
                </a:br>
                <a:r>
                  <a:rPr lang="en-US" dirty="0">
                    <a:latin typeface="Bell MT" panose="02020503060305020303" pitchFamily="18" charset="0"/>
                  </a:rPr>
                  <a:t>Third order derivative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𝑐𝑜𝑠𝑥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Bell MT" panose="02020503060305020303" pitchFamily="18" charset="0"/>
                  </a:rPr>
                  <a:t>at x=0:</a:t>
                </a:r>
                <a:br>
                  <a:rPr lang="en-US" dirty="0">
                    <a:latin typeface="Bell MT" panose="02020503060305020303" pitchFamily="18" charset="0"/>
                  </a:rPr>
                </a:br>
                <a:r>
                  <a:rPr lang="en-US" dirty="0">
                    <a:latin typeface="Bell MT" panose="02020503060305020303" pitchFamily="18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′′′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𝑠𝑖𝑛𝑥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𝑠𝑖𝑛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0=0</m:t>
                    </m:r>
                  </m:oMath>
                </a14:m>
                <a:endParaRPr lang="en-US" dirty="0" smtClean="0">
                  <a:solidFill>
                    <a:srgbClr val="FF0000"/>
                  </a:solidFill>
                  <a:latin typeface="Bell MT" panose="02020503060305020303" pitchFamily="18" charset="0"/>
                </a:endParaRPr>
              </a:p>
              <a:p>
                <a:r>
                  <a:rPr lang="en-US" dirty="0">
                    <a:latin typeface="Bell MT" panose="02020503060305020303" pitchFamily="18" charset="0"/>
                  </a:rPr>
                  <a:t/>
                </a:r>
                <a:br>
                  <a:rPr lang="en-US" dirty="0">
                    <a:latin typeface="Bell MT" panose="02020503060305020303" pitchFamily="18" charset="0"/>
                  </a:rPr>
                </a:br>
                <a:r>
                  <a:rPr lang="en-US" dirty="0">
                    <a:latin typeface="Bell MT" panose="02020503060305020303" pitchFamily="18" charset="0"/>
                  </a:rPr>
                  <a:t>Fourth order derivative of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𝑐𝑜𝑠𝑥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>
                    <a:latin typeface="Bell MT" panose="02020503060305020303" pitchFamily="18" charset="0"/>
                  </a:rPr>
                  <a:t>at x=0:</a:t>
                </a:r>
                <a:br>
                  <a:rPr lang="en-US" dirty="0">
                    <a:latin typeface="Bell MT" panose="02020503060305020303" pitchFamily="18" charset="0"/>
                  </a:rPr>
                </a:br>
                <a:r>
                  <a:rPr lang="en-US" dirty="0">
                    <a:latin typeface="Bell MT" panose="02020503060305020303" pitchFamily="18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′′′′</m:t>
                        </m:r>
                      </m:sup>
                    </m:sSup>
                    <m:d>
                      <m:d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𝑐𝑜𝑠𝑥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𝑐𝑜𝑠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0=1</m:t>
                    </m:r>
                  </m:oMath>
                </a14:m>
                <a:endParaRPr lang="en-US" dirty="0">
                  <a:solidFill>
                    <a:srgbClr val="FF0000"/>
                  </a:solidFill>
                </a:endParaRPr>
              </a:p>
            </p:txBody>
          </p:sp>
        </mc:Choice>
        <mc:Fallback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1610436" y="880281"/>
                <a:ext cx="8393374" cy="6196084"/>
              </a:xfrm>
              <a:blipFill rotWithShape="0">
                <a:blip r:embed="rId2"/>
                <a:stretch>
                  <a:fillRect t="-1278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58185649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>
        <mc:Choice xmlns:a14="http://schemas.microsoft.com/office/drawing/2010/main"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10904" y="665376"/>
                <a:ext cx="10612272" cy="5940141"/>
              </a:xfrm>
            </p:spPr>
            <p:txBody>
              <a:bodyPr>
                <a:normAutofit fontScale="90000"/>
              </a:bodyPr>
              <a:lstStyle/>
              <a:p>
                <a:pPr/>
                <a:r>
                  <a:rPr lang="en-US" sz="2400" dirty="0" smtClean="0">
                    <a:latin typeface="Bell MT" panose="02020503060305020303" pitchFamily="18" charset="0"/>
                  </a:rPr>
                  <a:t>Zeroth </a:t>
                </a:r>
                <a:r>
                  <a:rPr lang="en-US" sz="2400" dirty="0">
                    <a:latin typeface="Bell MT" panose="02020503060305020303" pitchFamily="18" charset="0"/>
                  </a:rPr>
                  <a:t>order derivative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400" dirty="0" smtClean="0">
                    <a:latin typeface="Bell MT" panose="02020503060305020303" pitchFamily="18" charset="0"/>
                  </a:rPr>
                  <a:t> </a:t>
                </a:r>
                <a:r>
                  <a:rPr lang="en-US" sz="2400" dirty="0">
                    <a:latin typeface="Bell MT" panose="02020503060305020303" pitchFamily="18" charset="0"/>
                  </a:rPr>
                  <a:t>at x=0</a:t>
                </a:r>
                <a:r>
                  <a:rPr lang="en-US" sz="2400" dirty="0" smtClean="0">
                    <a:latin typeface="Bell MT" panose="02020503060305020303" pitchFamily="18" charset="0"/>
                  </a:rPr>
                  <a:t>:</a:t>
                </a:r>
                <a:br>
                  <a:rPr lang="en-US" sz="2400" dirty="0" smtClean="0">
                    <a:latin typeface="Bell MT" panose="02020503060305020303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f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sty m:val="p"/>
                        </m:rPr>
                        <a:rPr lang="en-US" sz="2400" b="0" i="0" smtClean="0">
                          <a:latin typeface="Cambria Math" panose="02040503050406030204" pitchFamily="18" charset="0"/>
                        </a:rPr>
                        <m:t>x</m:t>
                      </m:r>
                      <m:r>
                        <a:rPr lang="en-US" sz="2400" b="0" i="0" smtClean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0+0+0+0+</m:t>
                      </m:r>
                      <m:r>
                        <a:rPr lang="en-US" sz="2400" b="0" i="1" smtClean="0">
                          <a:latin typeface="Cambria Math" panose="02040503050406030204" pitchFamily="18" charset="0"/>
                        </a:rPr>
                        <m:t>𝑒</m:t>
                      </m:r>
                      <m:r>
                        <a:rPr lang="en-US" sz="240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sz="2400" i="1" smtClean="0">
                          <a:solidFill>
                            <a:srgbClr val="FF0000"/>
                          </a:solidFill>
                          <a:latin typeface="Cambria Math" panose="02040503050406030204" pitchFamily="18" charset="0"/>
                        </a:rPr>
                        <m:t>1</m:t>
                      </m:r>
                    </m:oMath>
                  </m:oMathPara>
                </a14:m>
                <a:r>
                  <a:rPr lang="en-US" sz="2400" dirty="0" smtClean="0">
                    <a:latin typeface="Bell MT" panose="02020503060305020303" pitchFamily="18" charset="0"/>
                  </a:rPr>
                  <a:t/>
                </a:r>
                <a:br>
                  <a:rPr lang="en-US" sz="2400" dirty="0" smtClean="0">
                    <a:latin typeface="Bell MT" panose="02020503060305020303" pitchFamily="18" charset="0"/>
                  </a:rPr>
                </a:br>
                <a:r>
                  <a:rPr lang="en-US" sz="2400" dirty="0">
                    <a:latin typeface="Bell MT" panose="02020503060305020303" pitchFamily="18" charset="0"/>
                  </a:rPr>
                  <a:t>	</a:t>
                </a:r>
                <a:r>
                  <a:rPr lang="en-US" sz="2400" dirty="0" smtClean="0">
                    <a:latin typeface="Bell MT" panose="02020503060305020303" pitchFamily="18" charset="0"/>
                  </a:rPr>
                  <a:t>			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𝑒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=1</m:t>
                    </m:r>
                  </m:oMath>
                </a14:m>
                <a:r>
                  <a:rPr lang="en-US" sz="2400" dirty="0" smtClean="0">
                    <a:latin typeface="Bell MT" panose="02020503060305020303" pitchFamily="18" charset="0"/>
                  </a:rPr>
                  <a:t/>
                </a:r>
                <a:br>
                  <a:rPr lang="en-US" sz="2400" dirty="0" smtClean="0">
                    <a:latin typeface="Bell MT" panose="02020503060305020303" pitchFamily="18" charset="0"/>
                  </a:rPr>
                </a:br>
                <a:r>
                  <a:rPr lang="en-US" sz="2400" dirty="0" smtClean="0">
                    <a:latin typeface="Bell MT" panose="02020503060305020303" pitchFamily="18" charset="0"/>
                  </a:rPr>
                  <a:t>				</a:t>
                </a:r>
                <a:br>
                  <a:rPr lang="en-US" sz="2400" dirty="0" smtClean="0">
                    <a:latin typeface="Bell MT" panose="02020503060305020303" pitchFamily="18" charset="0"/>
                  </a:rPr>
                </a:br>
                <a:r>
                  <a:rPr lang="en-US" sz="2400" dirty="0">
                    <a:latin typeface="Bell MT" panose="02020503060305020303" pitchFamily="18" charset="0"/>
                  </a:rPr>
                  <a:t>First order derivative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400" dirty="0">
                    <a:latin typeface="Bell MT" panose="02020503060305020303" pitchFamily="18" charset="0"/>
                  </a:rPr>
                  <a:t> at x=0:</a:t>
                </a:r>
                <a:br>
                  <a:rPr lang="en-US" sz="2400" dirty="0">
                    <a:latin typeface="Bell MT" panose="02020503060305020303" pitchFamily="18" charset="0"/>
                  </a:rPr>
                </a:br>
                <a:r>
                  <a:rPr lang="en-US" sz="2400" dirty="0">
                    <a:latin typeface="Bell MT" panose="02020503060305020303" pitchFamily="18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=4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+3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+2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=0+0+0+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 smtClean="0">
                    <a:latin typeface="Bell MT" panose="02020503060305020303" pitchFamily="18" charset="0"/>
                  </a:rPr>
                  <a:t/>
                </a:r>
                <a:br>
                  <a:rPr lang="en-US" sz="2400" dirty="0" smtClean="0">
                    <a:latin typeface="Bell MT" panose="02020503060305020303" pitchFamily="18" charset="0"/>
                  </a:rPr>
                </a:br>
                <a:r>
                  <a:rPr lang="en-US" sz="2400" dirty="0">
                    <a:latin typeface="Bell MT" panose="02020503060305020303" pitchFamily="18" charset="0"/>
                  </a:rPr>
                  <a:t>	</a:t>
                </a:r>
                <a:r>
                  <a:rPr lang="en-US" sz="2400" dirty="0" smtClean="0">
                    <a:latin typeface="Bell MT" panose="02020503060305020303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 smtClean="0">
                    <a:latin typeface="Bell MT" panose="02020503060305020303" pitchFamily="18" charset="0"/>
                  </a:rPr>
                  <a:t/>
                </a:r>
                <a:br>
                  <a:rPr lang="en-US" sz="2400" dirty="0" smtClean="0">
                    <a:latin typeface="Bell MT" panose="02020503060305020303" pitchFamily="18" charset="0"/>
                  </a:rPr>
                </a:br>
                <a:r>
                  <a:rPr lang="en-US" sz="2400" dirty="0" smtClean="0">
                    <a:latin typeface="Bell MT" panose="02020503060305020303" pitchFamily="18" charset="0"/>
                  </a:rPr>
                  <a:t>					</a:t>
                </a:r>
                <a:r>
                  <a:rPr lang="en-US" sz="2400" dirty="0">
                    <a:latin typeface="Bell MT" panose="02020503060305020303" pitchFamily="18" charset="0"/>
                  </a:rPr>
                  <a:t/>
                </a:r>
                <a:br>
                  <a:rPr lang="en-US" sz="2400" dirty="0">
                    <a:latin typeface="Bell MT" panose="02020503060305020303" pitchFamily="18" charset="0"/>
                  </a:rPr>
                </a:br>
                <a:r>
                  <a:rPr lang="en-US" sz="2400" dirty="0">
                    <a:latin typeface="Bell MT" panose="02020503060305020303" pitchFamily="18" charset="0"/>
                  </a:rPr>
                  <a:t>Second order derivative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400" dirty="0">
                    <a:latin typeface="Bell MT" panose="02020503060305020303" pitchFamily="18" charset="0"/>
                  </a:rPr>
                  <a:t> at x=0:</a:t>
                </a:r>
                <a:br>
                  <a:rPr lang="en-US" sz="2400" dirty="0">
                    <a:latin typeface="Bell MT" panose="02020503060305020303" pitchFamily="18" charset="0"/>
                  </a:rPr>
                </a:br>
                <a:r>
                  <a:rPr lang="en-US" sz="2400" dirty="0">
                    <a:latin typeface="Bell MT" panose="02020503060305020303" pitchFamily="18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′′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4∗3∗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b="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+3∗2∗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+2∗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=0+0+2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=−1</m:t>
                    </m:r>
                  </m:oMath>
                </a14:m>
                <a:r>
                  <a:rPr lang="en-US" sz="2400" b="0" dirty="0" smtClean="0">
                    <a:latin typeface="Bell MT" panose="02020503060305020303" pitchFamily="18" charset="0"/>
                  </a:rPr>
                  <a:t/>
                </a:r>
                <a:br>
                  <a:rPr lang="en-US" sz="2400" b="0" dirty="0" smtClean="0">
                    <a:latin typeface="Bell MT" panose="02020503060305020303" pitchFamily="18" charset="0"/>
                  </a:rPr>
                </a:br>
                <a:r>
                  <a:rPr lang="en-US" sz="2400" b="0" dirty="0" smtClean="0">
                    <a:latin typeface="Bell MT" panose="02020503060305020303" pitchFamily="18" charset="0"/>
                  </a:rPr>
                  <a:t>		</a:t>
                </a:r>
                <a14:m>
                  <m:oMath xmlns:m="http://schemas.openxmlformats.org/officeDocument/2006/math">
                    <m:r>
                      <a:rPr lang="en-US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=−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2!</m:t>
                        </m:r>
                      </m:den>
                    </m:f>
                  </m:oMath>
                </a14:m>
                <a:r>
                  <a:rPr lang="en-US" sz="2400" dirty="0">
                    <a:latin typeface="Bell MT" panose="02020503060305020303" pitchFamily="18" charset="0"/>
                  </a:rPr>
                  <a:t/>
                </a:r>
                <a:br>
                  <a:rPr lang="en-US" sz="2400" dirty="0">
                    <a:latin typeface="Bell MT" panose="02020503060305020303" pitchFamily="18" charset="0"/>
                  </a:rPr>
                </a:br>
                <a:r>
                  <a:rPr lang="en-US" sz="2400" dirty="0">
                    <a:latin typeface="Bell MT" panose="02020503060305020303" pitchFamily="18" charset="0"/>
                  </a:rPr>
                  <a:t/>
                </a:r>
                <a:br>
                  <a:rPr lang="en-US" sz="2400" dirty="0">
                    <a:latin typeface="Bell MT" panose="02020503060305020303" pitchFamily="18" charset="0"/>
                  </a:rPr>
                </a:br>
                <a:r>
                  <a:rPr lang="en-US" sz="2400" dirty="0">
                    <a:latin typeface="Bell MT" panose="02020503060305020303" pitchFamily="18" charset="0"/>
                  </a:rPr>
                  <a:t>Third order derivative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 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400" dirty="0">
                    <a:latin typeface="Bell MT" panose="02020503060305020303" pitchFamily="18" charset="0"/>
                  </a:rPr>
                  <a:t> at x=0:</a:t>
                </a:r>
                <a:br>
                  <a:rPr lang="en-US" sz="2400" dirty="0">
                    <a:latin typeface="Bell MT" panose="02020503060305020303" pitchFamily="18" charset="0"/>
                  </a:rPr>
                </a:br>
                <a:r>
                  <a:rPr lang="en-US" sz="2400" dirty="0">
                    <a:latin typeface="Bell MT" panose="02020503060305020303" pitchFamily="18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′′′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4∗3∗2∗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𝑎𝑥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+3∗2∗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=0</m:t>
                    </m:r>
                  </m:oMath>
                </a14:m>
                <a:r>
                  <a:rPr lang="en-US" sz="2400" dirty="0" smtClean="0">
                    <a:latin typeface="Bell MT" panose="02020503060305020303" pitchFamily="18" charset="0"/>
                  </a:rPr>
                  <a:t/>
                </a:r>
                <a:br>
                  <a:rPr lang="en-US" sz="2400" dirty="0" smtClean="0">
                    <a:latin typeface="Bell MT" panose="02020503060305020303" pitchFamily="18" charset="0"/>
                  </a:rPr>
                </a:br>
                <a:r>
                  <a:rPr lang="en-US" sz="2400" dirty="0">
                    <a:latin typeface="Bell MT" panose="02020503060305020303" pitchFamily="18" charset="0"/>
                  </a:rPr>
                  <a:t>	</a:t>
                </a:r>
                <a:r>
                  <a:rPr lang="en-US" sz="2400" dirty="0" smtClean="0">
                    <a:latin typeface="Bell MT" panose="02020503060305020303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3!</m:t>
                        </m:r>
                      </m:den>
                    </m:f>
                  </m:oMath>
                </a14:m>
                <a:r>
                  <a:rPr lang="en-US" sz="2400" dirty="0" smtClean="0">
                    <a:solidFill>
                      <a:srgbClr val="00B050"/>
                    </a:solidFill>
                    <a:latin typeface="Bell MT" panose="02020503060305020303" pitchFamily="18" charset="0"/>
                  </a:rPr>
                  <a:t> =</a:t>
                </a:r>
                <a14:m>
                  <m:oMath xmlns:m="http://schemas.openxmlformats.org/officeDocument/2006/math">
                    <m:r>
                      <a:rPr lang="en-US" sz="2400" b="0" i="1" dirty="0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lang="en-US" sz="2400" dirty="0">
                    <a:latin typeface="Bell MT" panose="02020503060305020303" pitchFamily="18" charset="0"/>
                  </a:rPr>
                  <a:t/>
                </a:r>
                <a:br>
                  <a:rPr lang="en-US" sz="2400" dirty="0">
                    <a:latin typeface="Bell MT" panose="02020503060305020303" pitchFamily="18" charset="0"/>
                  </a:rPr>
                </a:br>
                <a:r>
                  <a:rPr lang="en-US" sz="2400" dirty="0">
                    <a:latin typeface="Bell MT" panose="02020503060305020303" pitchFamily="18" charset="0"/>
                  </a:rPr>
                  <a:t/>
                </a:r>
                <a:br>
                  <a:rPr lang="en-US" sz="2400" dirty="0">
                    <a:latin typeface="Bell MT" panose="02020503060305020303" pitchFamily="18" charset="0"/>
                  </a:rPr>
                </a:br>
                <a:r>
                  <a:rPr lang="en-US" sz="2400" dirty="0">
                    <a:latin typeface="Bell MT" panose="02020503060305020303" pitchFamily="18" charset="0"/>
                  </a:rPr>
                  <a:t>Fourth order derivative of </a:t>
                </a:r>
                <a14:m>
                  <m:oMath xmlns:m="http://schemas.openxmlformats.org/officeDocument/2006/math">
                    <m:r>
                      <a:rPr lang="en-US" sz="2400" i="1">
                        <a:latin typeface="Cambria Math" panose="02040503050406030204" pitchFamily="18" charset="0"/>
                      </a:rPr>
                      <m:t>𝑓</m:t>
                    </m:r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r>
                  <a:rPr lang="en-US" sz="2400" dirty="0">
                    <a:latin typeface="Bell MT" panose="02020503060305020303" pitchFamily="18" charset="0"/>
                  </a:rPr>
                  <a:t> at x=0:</a:t>
                </a:r>
                <a:br>
                  <a:rPr lang="en-US" sz="2400" dirty="0">
                    <a:latin typeface="Bell MT" panose="02020503060305020303" pitchFamily="18" charset="0"/>
                  </a:rPr>
                </a:br>
                <a:r>
                  <a:rPr lang="en-US" sz="2400" dirty="0">
                    <a:latin typeface="Bell MT" panose="02020503060305020303" pitchFamily="18" charset="0"/>
                  </a:rPr>
                  <a:t>	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′′′′</m:t>
                        </m:r>
                      </m:sup>
                    </m:sSup>
                    <m:d>
                      <m:dPr>
                        <m:ctrlPr>
                          <a:rPr lang="en-US" sz="24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4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=4∗3∗2∗</m:t>
                    </m:r>
                    <m:r>
                      <a:rPr lang="en-US" sz="2400" b="0" i="1" smtClean="0"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US" sz="240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US" sz="2400" i="1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lang="en-US" sz="2400" dirty="0" smtClean="0">
                    <a:latin typeface="Bell MT" panose="02020503060305020303" pitchFamily="18" charset="0"/>
                  </a:rPr>
                  <a:t/>
                </a:r>
                <a:br>
                  <a:rPr lang="en-US" sz="2400" dirty="0" smtClean="0">
                    <a:latin typeface="Bell MT" panose="02020503060305020303" pitchFamily="18" charset="0"/>
                  </a:rPr>
                </a:br>
                <a:r>
                  <a:rPr lang="en-US" sz="2400" dirty="0">
                    <a:latin typeface="Bell MT" panose="02020503060305020303" pitchFamily="18" charset="0"/>
                  </a:rPr>
                  <a:t>	</a:t>
                </a:r>
                <a:r>
                  <a:rPr lang="en-US" sz="2400" dirty="0" smtClean="0">
                    <a:latin typeface="Bell MT" panose="02020503060305020303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sz="240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→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</m:t>
                    </m:r>
                    <m:r>
                      <a:rPr lang="en-US" sz="2400" b="0" i="1" smtClean="0">
                        <a:solidFill>
                          <a:srgbClr val="00B050"/>
                        </a:solidFill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sz="2400" b="0" i="1" smtClean="0">
                            <a:solidFill>
                              <a:srgbClr val="00B050"/>
                            </a:solidFill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4!</m:t>
                        </m:r>
                      </m:den>
                    </m:f>
                  </m:oMath>
                </a14:m>
                <a:r>
                  <a:rPr lang="en-US" sz="2400" dirty="0">
                    <a:latin typeface="Bell MT" panose="02020503060305020303" pitchFamily="18" charset="0"/>
                  </a:rPr>
                  <a:t/>
                </a:r>
                <a:br>
                  <a:rPr lang="en-US" sz="2400" dirty="0">
                    <a:latin typeface="Bell MT" panose="02020503060305020303" pitchFamily="18" charset="0"/>
                  </a:rPr>
                </a:br>
                <a:endParaRPr lang="en-US" dirty="0"/>
              </a:p>
            </p:txBody>
          </p:sp>
        </mc:Choice>
        <mc:Fallback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10904" y="665376"/>
                <a:ext cx="10612272" cy="5940141"/>
              </a:xfrm>
              <a:blipFill rotWithShape="0">
                <a:blip r:embed="rId2"/>
                <a:stretch>
                  <a:fillRect l="-747" t="-80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3743825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264693" y="-1293291"/>
            <a:ext cx="9144000" cy="2387600"/>
          </a:xfrm>
        </p:spPr>
        <p:txBody>
          <a:bodyPr>
            <a:normAutofit/>
          </a:bodyPr>
          <a:lstStyle/>
          <a:p>
            <a:r>
              <a:rPr lang="en-US" sz="2400" dirty="0" smtClean="0">
                <a:solidFill>
                  <a:srgbClr val="FF0000"/>
                </a:solidFill>
                <a:latin typeface="Bell MT" panose="02020503060305020303" pitchFamily="18" charset="0"/>
              </a:rPr>
              <a:t>Framing a general series equation that works for all the analytic functions(trigonometric, exponential , logarithmic , etc.) :</a:t>
            </a:r>
            <a:endParaRPr lang="en-US" sz="2400" dirty="0">
              <a:solidFill>
                <a:srgbClr val="FF0000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Subtitle 2"/>
              <p:cNvSpPr>
                <a:spLocks noGrp="1"/>
              </p:cNvSpPr>
              <p:nvPr>
                <p:ph type="subTitle" idx="1"/>
              </p:nvPr>
            </p:nvSpPr>
            <p:spPr>
              <a:xfrm>
                <a:off x="582304" y="1500281"/>
                <a:ext cx="11400430" cy="4586620"/>
              </a:xfrm>
            </p:spPr>
            <p:txBody>
              <a:bodyPr>
                <a:normAutofit fontScale="92500" lnSpcReduction="20000"/>
              </a:bodyPr>
              <a:lstStyle/>
              <a:p>
                <a:pPr algn="l"/>
                <a:r>
                  <a:rPr lang="en-US" dirty="0" smtClean="0">
                    <a:latin typeface="Bell MT" panose="02020503060305020303" pitchFamily="18" charset="0"/>
                  </a:rPr>
                  <a:t>Substituting the coefficients in the general equation, </a:t>
                </a:r>
              </a:p>
              <a:p>
                <a:pPr algn="l"/>
                <a:r>
                  <a:rPr lang="en-US" dirty="0" smtClean="0">
                    <a:latin typeface="Bell MT" panose="02020503060305020303" pitchFamily="18" charset="0"/>
                  </a:rPr>
                  <a:t/>
                </a:r>
                <a:br>
                  <a:rPr lang="en-US" dirty="0" smtClean="0">
                    <a:latin typeface="Bell MT" panose="02020503060305020303" pitchFamily="18" charset="0"/>
                  </a:rPr>
                </a:br>
                <a:r>
                  <a:rPr lang="en-US" dirty="0">
                    <a:latin typeface="Bell MT" panose="02020503060305020303" pitchFamily="18" charset="0"/>
                  </a:rPr>
                  <a:t>	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𝑎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𝑏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𝑐</m:t>
                    </m:r>
                    <m:sSup>
                      <m:sSup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US" i="1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𝑑𝑥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i="1">
                        <a:latin typeface="Cambria Math" panose="02040503050406030204" pitchFamily="18" charset="0"/>
                      </a:rPr>
                      <m:t>𝑒</m:t>
                    </m:r>
                  </m:oMath>
                </a14:m>
                <a:endParaRPr lang="en-US" dirty="0" smtClean="0">
                  <a:latin typeface="Bell MT" panose="02020503060305020303" pitchFamily="18" charset="0"/>
                </a:endParaRPr>
              </a:p>
              <a:p>
                <a:pPr algn="l"/>
                <a:r>
                  <a:rPr lang="en-US" dirty="0">
                    <a:latin typeface="Bell MT" panose="02020503060305020303" pitchFamily="18" charset="0"/>
                  </a:rPr>
                  <a:t/>
                </a:r>
                <a:br>
                  <a:rPr lang="en-US" dirty="0">
                    <a:latin typeface="Bell MT" panose="02020503060305020303" pitchFamily="18" charset="0"/>
                  </a:rPr>
                </a:br>
                <a:r>
                  <a:rPr lang="en-US" dirty="0">
                    <a:latin typeface="Bell MT" panose="02020503060305020303" pitchFamily="18" charset="0"/>
                  </a:rPr>
                  <a:t>	=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4!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0+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0+1</m:t>
                    </m:r>
                  </m:oMath>
                </a14:m>
                <a:endParaRPr lang="en-US" dirty="0" smtClean="0"/>
              </a:p>
              <a:p>
                <a:pPr algn="l"/>
                <a:r>
                  <a:rPr lang="en-US" dirty="0" smtClean="0"/>
                  <a:t>	</a:t>
                </a:r>
                <a:r>
                  <a:rPr lang="en-US" dirty="0" smtClean="0">
                    <a:latin typeface="Bell MT" panose="02020503060305020303" pitchFamily="18" charset="0"/>
                  </a:rPr>
                  <a:t>= </a:t>
                </a:r>
                <a:r>
                  <a:rPr lang="en-US" dirty="0" smtClean="0">
                    <a:solidFill>
                      <a:srgbClr val="FF0000"/>
                    </a:solidFill>
                    <a:latin typeface="Bell MT" panose="02020503060305020303" pitchFamily="18" charset="0"/>
                  </a:rPr>
                  <a:t>1</a:t>
                </a:r>
                <a:r>
                  <a:rPr lang="en-US" dirty="0" smtClean="0">
                    <a:latin typeface="Bell MT" panose="02020503060305020303" pitchFamily="18" charset="0"/>
                  </a:rPr>
                  <a:t>*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4!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US" b="0" i="1" dirty="0" smtClean="0">
                        <a:solidFill>
                          <a:srgbClr val="FF0000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1!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solidFill>
                              <a:srgbClr val="FF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0!</m:t>
                        </m:r>
                      </m:den>
                    </m:f>
                  </m:oMath>
                </a14:m>
                <a:r>
                  <a:rPr lang="en-US" dirty="0" smtClean="0"/>
                  <a:t>			          </a:t>
                </a:r>
                <a:r>
                  <a:rPr lang="en-US" sz="2200" dirty="0" smtClean="0">
                    <a:latin typeface="Bell MT" panose="02020503060305020303" pitchFamily="18" charset="0"/>
                  </a:rPr>
                  <a:t>(bringing factorial in every term)</a:t>
                </a:r>
                <a:endParaRPr lang="en-US" dirty="0">
                  <a:latin typeface="Bell MT" panose="02020503060305020303" pitchFamily="18" charset="0"/>
                </a:endParaRPr>
              </a:p>
              <a:p>
                <a:pPr algn="l"/>
                <a:r>
                  <a:rPr lang="en-US" dirty="0" smtClean="0"/>
                  <a:t>	</a:t>
                </a:r>
                <a:r>
                  <a:rPr lang="en-US" dirty="0" smtClean="0">
                    <a:latin typeface="Bell MT" panose="02020503060305020303" pitchFamily="18" charset="0"/>
                  </a:rPr>
                  <a:t>=</a:t>
                </a:r>
                <a14:m>
                  <m:oMath xmlns:m="http://schemas.openxmlformats.org/officeDocument/2006/math">
                    <m:r>
                      <a:rPr lang="en-US" b="0" i="1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smtClean="0">
                        <a:latin typeface="Cambria Math" panose="02040503050406030204" pitchFamily="18" charset="0"/>
                      </a:rPr>
                      <m:t>(0)</m:t>
                    </m:r>
                  </m:oMath>
                </a14:m>
                <a:r>
                  <a:rPr lang="en-US" dirty="0" smtClean="0">
                    <a:latin typeface="Bell MT" panose="02020503060305020303" pitchFamily="18" charset="0"/>
                  </a:rPr>
                  <a:t>*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4!</m:t>
                        </m:r>
                      </m:den>
                    </m:f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0" smtClean="0">
                        <a:latin typeface="Cambria Math" panose="02040503050406030204" pitchFamily="18" charset="0"/>
                      </a:rPr>
                      <m:t>′(0)</m:t>
                    </m:r>
                    <m:f>
                      <m:fPr>
                        <m:ctrlPr>
                          <a:rPr lang="en-US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>
                            <a:latin typeface="Cambria Math" panose="02040503050406030204" pitchFamily="18" charset="0"/>
                          </a:rPr>
                          <m:t>3!</m:t>
                        </m:r>
                      </m:den>
                    </m:f>
                    <m:r>
                      <a:rPr lang="en-US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b="0" i="0" dirty="0" smtClean="0">
                        <a:latin typeface="Cambria Math" panose="02040503050406030204" pitchFamily="18" charset="0"/>
                      </a:rPr>
                      <m:t>f</m:t>
                    </m:r>
                    <m:r>
                      <a:rPr lang="en-US" b="0" i="0" dirty="0" smtClean="0">
                        <a:latin typeface="Cambria Math" panose="02040503050406030204" pitchFamily="18" charset="0"/>
                      </a:rPr>
                      <m:t>′′(0)</m:t>
                    </m:r>
                    <m:r>
                      <a:rPr lang="en-US" i="1" dirty="0">
                        <a:latin typeface="Cambria Math" panose="02040503050406030204" pitchFamily="18" charset="0"/>
                      </a:rPr>
                      <m:t>∗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sSupPr>
                            <m:ctrlPr>
                              <a:rPr lang="en-US" i="1" dirty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2!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′′′(0)</m:t>
                    </m:r>
                  </m:oMath>
                </a14:m>
                <a:r>
                  <a:rPr lang="en-US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1!</m:t>
                        </m:r>
                      </m:den>
                    </m:f>
                    <m:r>
                      <a:rPr lang="en-US" i="1" dirty="0">
                        <a:latin typeface="Cambria Math" panose="02040503050406030204" pitchFamily="18" charset="0"/>
                      </a:rPr>
                      <m:t>+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𝑓</m:t>
                    </m:r>
                    <m:r>
                      <a:rPr lang="en-US" b="0" i="1" dirty="0" smtClean="0">
                        <a:latin typeface="Cambria Math" panose="02040503050406030204" pitchFamily="18" charset="0"/>
                      </a:rPr>
                      <m:t>′′′′(0)</m:t>
                    </m:r>
                    <m:f>
                      <m:fPr>
                        <m:ctrlPr>
                          <a:rPr lang="en-US" i="1" dirty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b="0" i="1" dirty="0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0!</m:t>
                        </m:r>
                      </m:den>
                    </m:f>
                  </m:oMath>
                </a14:m>
                <a:r>
                  <a:rPr lang="en-US" sz="2200" dirty="0" smtClean="0">
                    <a:latin typeface="Bell MT" panose="02020503060305020303" pitchFamily="18" charset="0"/>
                  </a:rPr>
                  <a:t>   (substitution in terms of 									      derivatives)</a:t>
                </a:r>
                <a:endParaRPr lang="en-US" dirty="0" smtClean="0">
                  <a:latin typeface="Bell MT" panose="02020503060305020303" pitchFamily="18" charset="0"/>
                </a:endParaRPr>
              </a:p>
              <a:p>
                <a:pPr algn="l"/>
                <a:endParaRPr lang="en-US" dirty="0" smtClean="0"/>
              </a:p>
              <a:p>
                <a:pPr algn="l"/>
                <a:r>
                  <a:rPr lang="en-US" dirty="0"/>
                  <a:t>	</a:t>
                </a:r>
                <a:r>
                  <a:rPr lang="en-US" dirty="0" smtClean="0"/>
                  <a:t>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i="1" smtClean="0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i="1" smtClean="0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t-BR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pt-BR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(0) 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b="0" i="1" smtClean="0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dirty="0" smtClean="0"/>
                  <a:t>			</a:t>
                </a:r>
                <a:r>
                  <a:rPr lang="en-US" dirty="0" smtClean="0">
                    <a:latin typeface="Bell MT" panose="02020503060305020303" pitchFamily="18" charset="0"/>
                  </a:rPr>
                  <a:t>(about the point x=0)</a:t>
                </a:r>
              </a:p>
              <a:p>
                <a:pPr algn="l"/>
                <a:r>
                  <a:rPr lang="en-US" dirty="0"/>
                  <a:t>	=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ctrlPr>
                          <a:rPr lang="pt-BR" i="1"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pt-BR" i="1"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pt-BR" i="1">
                            <a:latin typeface="Cambria Math" panose="02040503050406030204" pitchFamily="18" charset="0"/>
                          </a:rPr>
                          <m:t>=0</m:t>
                        </m:r>
                      </m:sub>
                      <m:sup>
                        <m:r>
                          <a:rPr lang="pt-BR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∞</m:t>
                        </m:r>
                      </m:sup>
                      <m:e>
                        <m:f>
                          <m:fPr>
                            <m:ctrlPr>
                              <a:rPr lang="pt-BR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𝑓</m:t>
                                </m:r>
                              </m:e>
                              <m:sup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  <m:sSup>
                              <m:sSupPr>
                                <m:ctrlPr>
                                  <a:rPr lang="pt-BR" i="1">
                                    <a:latin typeface="Cambria Math" panose="02040503050406030204" pitchFamily="18" charset="0"/>
                                  </a:rPr>
                                </m:ctrlPr>
                              </m:sSupPr>
                              <m:e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i="1">
                                    <a:latin typeface="Cambria Math" panose="02040503050406030204" pitchFamily="18" charset="0"/>
                                  </a:rPr>
                                  <m:t>) 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  <m:r>
                                  <a:rPr lang="en-US" b="0" i="1" smtClean="0"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a:rPr lang="pt-BR" i="1"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sup>
                            </m:sSup>
                          </m:num>
                          <m:den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a:rPr lang="en-US" i="1">
                                <a:latin typeface="Cambria Math" panose="02040503050406030204" pitchFamily="18" charset="0"/>
                              </a:rPr>
                              <m:t>!</m:t>
                            </m:r>
                          </m:den>
                        </m:f>
                      </m:e>
                    </m:nary>
                  </m:oMath>
                </a14:m>
                <a:r>
                  <a:rPr lang="en-US" dirty="0" smtClean="0"/>
                  <a:t>		</a:t>
                </a:r>
                <a:r>
                  <a:rPr lang="en-US" dirty="0" smtClean="0">
                    <a:latin typeface="Bell MT" panose="02020503060305020303" pitchFamily="18" charset="0"/>
                  </a:rPr>
                  <a:t>(about a point x=c)</a:t>
                </a:r>
                <a:endParaRPr lang="en-US" dirty="0" smtClean="0"/>
              </a:p>
            </p:txBody>
          </p:sp>
        </mc:Choice>
        <mc:Fallback xmlns="">
          <p:sp>
            <p:nvSpPr>
              <p:cNvPr id="3" name="Subtitle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subTitle" idx="1"/>
              </p:nvPr>
            </p:nvSpPr>
            <p:spPr>
              <a:xfrm>
                <a:off x="582304" y="1500281"/>
                <a:ext cx="11400430" cy="4586620"/>
              </a:xfrm>
              <a:blipFill rotWithShape="0">
                <a:blip r:embed="rId2"/>
                <a:stretch>
                  <a:fillRect l="-695" t="-265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7041423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2" name="Title 1"/>
              <p:cNvSpPr>
                <a:spLocks noGrp="1"/>
              </p:cNvSpPr>
              <p:nvPr>
                <p:ph type="title"/>
              </p:nvPr>
            </p:nvSpPr>
            <p:spPr>
              <a:xfrm>
                <a:off x="838199" y="365125"/>
                <a:ext cx="10625919" cy="5994732"/>
              </a:xfrm>
            </p:spPr>
            <p:txBody>
              <a:bodyPr>
                <a:normAutofit/>
              </a:bodyPr>
              <a:lstStyle/>
              <a:p>
                <a:pPr/>
                <a:r>
                  <a:rPr lang="en-US" sz="2400" dirty="0">
                    <a:latin typeface="Bell MT" panose="02020503060305020303" pitchFamily="18" charset="0"/>
                  </a:rPr>
                  <a:t>Let f be a function defined on some open interval containing c. </a:t>
                </a:r>
                <a:r>
                  <a:rPr lang="en-US" sz="2400" dirty="0" smtClean="0">
                    <a:latin typeface="Bell MT" panose="02020503060305020303" pitchFamily="18" charset="0"/>
                  </a:rPr>
                  <a:t>If f </a:t>
                </a:r>
                <a:r>
                  <a:rPr lang="en-US" sz="2400" dirty="0">
                    <a:latin typeface="Bell MT" panose="02020503060305020303" pitchFamily="18" charset="0"/>
                  </a:rPr>
                  <a:t>possesses derivatives of all orders at c, then the </a:t>
                </a:r>
                <a:r>
                  <a:rPr lang="en-US" sz="2400" dirty="0" smtClean="0">
                    <a:latin typeface="Bell MT" panose="02020503060305020303" pitchFamily="18" charset="0"/>
                  </a:rPr>
                  <a:t>series</a:t>
                </a:r>
                <a:br>
                  <a:rPr lang="en-US" sz="2400" dirty="0" smtClean="0">
                    <a:latin typeface="Bell MT" panose="02020503060305020303" pitchFamily="18" charset="0"/>
                  </a:rPr>
                </a:br>
                <a:r>
                  <a:rPr lang="en-US" sz="2400" dirty="0" smtClean="0">
                    <a:latin typeface="Bell MT" panose="02020503060305020303" pitchFamily="18" charset="0"/>
                  </a:rPr>
                  <a:t/>
                </a:r>
                <a:br>
                  <a:rPr lang="en-US" sz="2400" dirty="0" smtClean="0">
                    <a:latin typeface="Bell MT" panose="02020503060305020303" pitchFamily="18" charset="0"/>
                  </a:rPr>
                </a:b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nary>
                        <m:naryPr>
                          <m:chr m:val="∑"/>
                          <m:ctrlPr>
                            <a:rPr lang="pt-BR" sz="240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𝑘</m:t>
                          </m:r>
                          <m:r>
                            <a:rPr lang="pt-BR" sz="2400" i="1">
                              <a:latin typeface="Cambria Math" panose="02040503050406030204" pitchFamily="18" charset="0"/>
                            </a:rPr>
                            <m:t>=0</m:t>
                          </m:r>
                        </m:sub>
                        <m:sup>
                          <m:r>
                            <a:rPr lang="pt-BR" sz="240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∞</m:t>
                          </m:r>
                        </m:sup>
                        <m:e>
                          <m:f>
                            <m:fPr>
                              <m:ctrlPr>
                                <a:rPr lang="pt-BR" sz="24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p>
                                <m:s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𝑓</m:t>
                                  </m:r>
                                </m:e>
                                <m:sup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  <m:sSup>
                                <m:sSupPr>
                                  <m:ctrlP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</m:ctrlPr>
                                </m:sSupPr>
                                <m:e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(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 (</m:t>
                                  </m:r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  <m:r>
                                    <a:rPr lang="en-US" sz="2400" i="1">
                                      <a:latin typeface="Cambria Math" panose="02040503050406030204" pitchFamily="18" charset="0"/>
                                    </a:rPr>
                                    <m:t>)</m:t>
                                  </m:r>
                                </m:e>
                                <m:sup>
                                  <m:r>
                                    <a:rPr lang="pt-BR" sz="2400" i="1">
                                      <a:latin typeface="Cambria Math" panose="02040503050406030204" pitchFamily="18" charset="0"/>
                                    </a:rPr>
                                    <m:t>𝑘</m:t>
                                  </m:r>
                                </m:sup>
                              </m:sSup>
                            </m:num>
                            <m:den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  <m:r>
                                <a:rPr lang="en-US" sz="2400" i="1">
                                  <a:latin typeface="Cambria Math" panose="02040503050406030204" pitchFamily="18" charset="0"/>
                                </a:rPr>
                                <m:t>!</m:t>
                              </m:r>
                            </m:den>
                          </m:f>
                        </m:e>
                      </m:nary>
                    </m:oMath>
                  </m:oMathPara>
                </a14:m>
                <a:r>
                  <a:rPr lang="en-US" sz="2400" dirty="0">
                    <a:latin typeface="Bell MT" panose="02020503060305020303" pitchFamily="18" charset="0"/>
                  </a:rPr>
                  <a:t/>
                </a:r>
                <a:br>
                  <a:rPr lang="en-US" sz="2400" dirty="0">
                    <a:latin typeface="Bell MT" panose="02020503060305020303" pitchFamily="18" charset="0"/>
                  </a:rPr>
                </a:br>
                <a:r>
                  <a:rPr lang="en-US" sz="2400" dirty="0" smtClean="0">
                    <a:latin typeface="Bell MT" panose="02020503060305020303" pitchFamily="18" charset="0"/>
                  </a:rPr>
                  <a:t/>
                </a:r>
                <a:br>
                  <a:rPr lang="en-US" sz="2400" dirty="0" smtClean="0">
                    <a:latin typeface="Bell MT" panose="02020503060305020303" pitchFamily="18" charset="0"/>
                  </a:rPr>
                </a:br>
                <a:r>
                  <a:rPr lang="en-US" sz="2400" dirty="0" smtClean="0">
                    <a:latin typeface="Bell MT" panose="02020503060305020303" pitchFamily="18" charset="0"/>
                  </a:rPr>
                  <a:t/>
                </a:r>
                <a:br>
                  <a:rPr lang="en-US" sz="2400" dirty="0" smtClean="0">
                    <a:latin typeface="Bell MT" panose="02020503060305020303" pitchFamily="18" charset="0"/>
                  </a:rPr>
                </a:br>
                <a:r>
                  <a:rPr lang="en-US" sz="2400" dirty="0" smtClean="0">
                    <a:latin typeface="Bell MT" panose="02020503060305020303" pitchFamily="18" charset="0"/>
                  </a:rPr>
                  <a:t>is </a:t>
                </a:r>
                <a:r>
                  <a:rPr lang="en-US" sz="2400" dirty="0">
                    <a:latin typeface="Bell MT" panose="02020503060305020303" pitchFamily="18" charset="0"/>
                  </a:rPr>
                  <a:t>called the Taylor series for f about c.</a:t>
                </a:r>
              </a:p>
            </p:txBody>
          </p:sp>
        </mc:Choice>
        <mc:Fallback xmlns="">
          <p:sp>
            <p:nvSpPr>
              <p:cNvPr id="2" name="Title 1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type="title"/>
              </p:nvPr>
            </p:nvSpPr>
            <p:spPr>
              <a:xfrm>
                <a:off x="838199" y="365125"/>
                <a:ext cx="10625919" cy="5994732"/>
              </a:xfrm>
              <a:blipFill rotWithShape="0">
                <a:blip r:embed="rId2"/>
                <a:stretch>
                  <a:fillRect l="-86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5127802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2800" dirty="0" smtClean="0"/>
              <a:t>End.</a:t>
            </a: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35482765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741</TotalTime>
  <Words>245</Words>
  <Application>Microsoft Office PowerPoint</Application>
  <PresentationFormat>Widescreen</PresentationFormat>
  <Paragraphs>30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8" baseType="lpstr">
      <vt:lpstr>Arial</vt:lpstr>
      <vt:lpstr>Bell MT</vt:lpstr>
      <vt:lpstr>Calibri</vt:lpstr>
      <vt:lpstr>Calibri Light</vt:lpstr>
      <vt:lpstr>Cambria Math</vt:lpstr>
      <vt:lpstr>Office Theme</vt:lpstr>
      <vt:lpstr>TAYLOR  SERIES</vt:lpstr>
      <vt:lpstr>cos⁡〖x=1-x^2/2!〗 + x^4/4! -x^6/6! + x^8/8! ……..   For small angles,   cos⁡〖x≈1-x^2/2!〗   1- cos⁡〖x≈x^2/2!〗  </vt:lpstr>
      <vt:lpstr>How a trigonometric function can be equated to a polynomial function?</vt:lpstr>
      <vt:lpstr>If we look carefully, we can see both the graphs overlapping at zero and points near zero</vt:lpstr>
      <vt:lpstr>What is the significance of other terms in Taylor series?  cos⁡〖x=1-x^2/2!〗 + x^4/4! -x^6/6! + x^8/8! ……..     upto n terms: Taylor’s polynomial    upto infinity: Taylor’s series</vt:lpstr>
      <vt:lpstr>More the number of terms taken into account as taylor polynomial, more the graph of that particular polynomial coincides with cos(x).</vt:lpstr>
      <vt:lpstr>How did we find this exact equation, more specifically how did we find the exact coefficients?</vt:lpstr>
      <vt:lpstr>PowerPoint Presentation</vt:lpstr>
      <vt:lpstr>Zeroth order derivative of f(x)=ax^4+bx^3+cx^2+dx+e at x=0: f(x)=0+0+0+0+e=1     →e=1      First order derivative of f(x)=ax^4+bx^3+cx^2+dx+e at x=0:  f^′ (x)=4ax^3+3bx^2+2cx+d=0+0+0+d=0   →d=0       Second order derivative of f(x)=ax^4+bx^3+cx^2+dx+e at x=0:  f^′′ (x)=4∗3∗ax^2+3∗2∗b∗x+2∗c=0+0+2c=-1   →c=-1/2!  Third order derivative of f(x)=ax^4  +bx^3+cx^2+dx+e at x=0:  f^′′′ (x)=4∗3∗2∗ax+3∗2∗b=0   →b=0/3! =0  Fourth order derivative of f(x)=ax^4+bx^3+cx^2+dx+e at x=0:  f^′′′′ (x)=4∗3∗2∗a=1   →a=1/4! </vt:lpstr>
      <vt:lpstr>Framing a general series equation that works for all the analytic functions(trigonometric, exponential , logarithmic , etc.) :</vt:lpstr>
      <vt:lpstr>Let f be a function defined on some open interval containing c. If f possesses derivatives of all orders at c, then the series  ∑_(k=0)^∞▒(f^k 〖(c) (x-c)〗^k)/k!   is called the Taylor series for f about c.</vt:lpstr>
      <vt:lpstr>End.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TAYLOR  SERIES</dc:title>
  <dc:creator>hp</dc:creator>
  <cp:lastModifiedBy>hp</cp:lastModifiedBy>
  <cp:revision>41</cp:revision>
  <dcterms:created xsi:type="dcterms:W3CDTF">2025-08-03T03:45:44Z</dcterms:created>
  <dcterms:modified xsi:type="dcterms:W3CDTF">2025-08-05T15:35:59Z</dcterms:modified>
</cp:coreProperties>
</file>